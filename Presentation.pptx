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24384000" cy="13716000"/>
  <p:notesSz cx="13716000" cy="24384000"/>
  <p:embeddedFontLst>
    <p:embeddedFont>
      <p:font typeface="Liter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2032000"/>
            <a:ext cx="1371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 Credit Follow-Up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Agent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6858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2 · AI Enablement Internship</a:t>
            </a:r>
            <a:endParaRPr lang="en-US" sz="3730" dirty="0"/>
          </a:p>
        </p:txBody>
      </p:sp>
      <p:sp>
        <p:nvSpPr>
          <p:cNvPr id="4" name="Text 2"/>
          <p:cNvSpPr/>
          <p:nvPr/>
        </p:nvSpPr>
        <p:spPr>
          <a:xfrm>
            <a:off x="1249680" y="8128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with LangGraph + Google Gemini 2.0 Flash</a:t>
            </a:r>
            <a:endParaRPr lang="en-US" sz="1600" dirty="0"/>
          </a:p>
        </p:txBody>
      </p:sp>
      <p:pic>
        <p:nvPicPr>
          <p:cNvPr id="5" name="Image 0" descr="https://kimi-img.moonshot.cn/pub/slides/okc/sjjuykkadmel6/mnt/agents/output/finance-credit-agent/images/6_6_806_Automation_Ai_Dark_Royalty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rcRect l="0" r="0" t="-61663" b="-61663"/>
          <a:stretch/>
        </p:blipFill>
        <p:spPr>
          <a:xfrm>
            <a:off x="15240000" y="1905000"/>
            <a:ext cx="7874000" cy="9906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762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065000" y="2286000"/>
            <a:ext cx="10795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557000" y="2540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2065000" y="3302000"/>
            <a:ext cx="10795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Solution Overview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1557000" y="3556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2065000" y="4318000"/>
            <a:ext cx="10795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Key Features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1557000" y="4572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2065000" y="5334000"/>
            <a:ext cx="10795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System Architecture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11557000" y="5588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2065000" y="6350000"/>
            <a:ext cx="10795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Tone Escalation Matrix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11557000" y="6604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3" name="Text 11"/>
          <p:cNvSpPr/>
          <p:nvPr/>
        </p:nvSpPr>
        <p:spPr>
          <a:xfrm>
            <a:off x="12065000" y="7366000"/>
            <a:ext cx="10795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Technology Stack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11557000" y="7620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5" name="Text 13"/>
          <p:cNvSpPr/>
          <p:nvPr/>
        </p:nvSpPr>
        <p:spPr>
          <a:xfrm>
            <a:off x="12065000" y="8382000"/>
            <a:ext cx="10795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Security Mitigations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1557000" y="8636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7" name="Text 15"/>
          <p:cNvSpPr/>
          <p:nvPr/>
        </p:nvSpPr>
        <p:spPr>
          <a:xfrm>
            <a:off x="12065000" y="9398000"/>
            <a:ext cx="10795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Results &amp; Impact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11557000" y="9652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9" name="Text 17"/>
          <p:cNvSpPr/>
          <p:nvPr/>
        </p:nvSpPr>
        <p:spPr>
          <a:xfrm>
            <a:off x="12065000" y="10414000"/>
            <a:ext cx="10795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Learnings &amp; Next Steps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1557000" y="10668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8890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Problem: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Follow-Up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 Broken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8743950"/>
            <a:ext cx="762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 teams struggle with inefficient, inconsistent overdue payment collection</a:t>
            </a:r>
            <a:endParaRPr lang="en-US" sz="3730" dirty="0"/>
          </a:p>
        </p:txBody>
      </p:sp>
      <p:sp>
        <p:nvSpPr>
          <p:cNvPr id="4" name="Shape 2"/>
          <p:cNvSpPr/>
          <p:nvPr/>
        </p:nvSpPr>
        <p:spPr>
          <a:xfrm>
            <a:off x="10795000" y="2540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1684000" y="2032000"/>
            <a:ext cx="1143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 teams waste significant time manually chasing overdue payments</a:t>
            </a:r>
            <a:endParaRPr lang="en-US" sz="2930" dirty="0"/>
          </a:p>
        </p:txBody>
      </p:sp>
      <p:sp>
        <p:nvSpPr>
          <p:cNvPr id="6" name="Shape 4"/>
          <p:cNvSpPr/>
          <p:nvPr/>
        </p:nvSpPr>
        <p:spPr>
          <a:xfrm>
            <a:off x="10795000" y="4572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1684000" y="4064000"/>
            <a:ext cx="1143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follow-ups are inconsistent in tone, timing, and urgency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10795000" y="6604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1684000" y="6096000"/>
            <a:ext cx="1143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DSO (Days Sales Outstanding) impacts cash flow negatively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0795000" y="8636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1684000" y="8128000"/>
            <a:ext cx="1143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of damaging client relationships with poorly worded reminders</a:t>
            </a:r>
            <a:endParaRPr lang="en-US" sz="2930" dirty="0"/>
          </a:p>
        </p:txBody>
      </p:sp>
      <p:sp>
        <p:nvSpPr>
          <p:cNvPr id="12" name="Shape 10"/>
          <p:cNvSpPr/>
          <p:nvPr/>
        </p:nvSpPr>
        <p:spPr>
          <a:xfrm>
            <a:off x="10795000" y="10668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3" name="Text 11"/>
          <p:cNvSpPr/>
          <p:nvPr/>
        </p:nvSpPr>
        <p:spPr>
          <a:xfrm>
            <a:off x="11684000" y="10160000"/>
            <a:ext cx="1143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standardised process leads to missed invoices and revenue leakage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1430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Solution: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Autonomous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Agent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6223000"/>
            <a:ext cx="1079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end-to-end autonomous system that monitors, generates, and sends personalised follow-up emails</a:t>
            </a:r>
            <a:endParaRPr lang="en-US" sz="3730" dirty="0"/>
          </a:p>
        </p:txBody>
      </p:sp>
      <p:pic>
        <p:nvPicPr>
          <p:cNvPr id="4" name="Image 0" descr="https://kimi-img.moonshot.cn/pub/slides/okc/sjjuykkadmel6/mnt/agents/output/finance-credit-agent/images/3_Email_technology_background_Images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24234" r="24234" t="0" b="0"/>
          <a:stretch/>
        </p:blipFill>
        <p:spPr>
          <a:xfrm>
            <a:off x="13335000" y="1524000"/>
            <a:ext cx="9779000" cy="1066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49680" y="8763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863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Reads invoice data from CSV/Excel automatically</a:t>
            </a:r>
            <a:endParaRPr lang="en-US" sz="2930" dirty="0"/>
          </a:p>
        </p:txBody>
      </p:sp>
      <p:sp>
        <p:nvSpPr>
          <p:cNvPr id="7" name="Shape 4"/>
          <p:cNvSpPr/>
          <p:nvPr/>
        </p:nvSpPr>
        <p:spPr>
          <a:xfrm>
            <a:off x="1249680" y="9652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5"/>
          <p:cNvSpPr/>
          <p:nvPr/>
        </p:nvSpPr>
        <p:spPr>
          <a:xfrm>
            <a:off x="1778000" y="9525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Generates personalised emails using Google Gemini LLM</a:t>
            </a:r>
            <a:endParaRPr lang="en-US" sz="2930" dirty="0"/>
          </a:p>
        </p:txBody>
      </p:sp>
      <p:sp>
        <p:nvSpPr>
          <p:cNvPr id="9" name="Shape 6"/>
          <p:cNvSpPr/>
          <p:nvPr/>
        </p:nvSpPr>
        <p:spPr>
          <a:xfrm>
            <a:off x="1249680" y="10668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7"/>
          <p:cNvSpPr/>
          <p:nvPr/>
        </p:nvSpPr>
        <p:spPr>
          <a:xfrm>
            <a:off x="1778000" y="1054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Escalates tone progressively based on overdue days</a:t>
            </a:r>
            <a:endParaRPr lang="en-US" sz="2930" dirty="0"/>
          </a:p>
        </p:txBody>
      </p:sp>
      <p:sp>
        <p:nvSpPr>
          <p:cNvPr id="11" name="Shape 8"/>
          <p:cNvSpPr/>
          <p:nvPr/>
        </p:nvSpPr>
        <p:spPr>
          <a:xfrm>
            <a:off x="1249680" y="11684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9"/>
          <p:cNvSpPr/>
          <p:nvPr/>
        </p:nvSpPr>
        <p:spPr>
          <a:xfrm>
            <a:off x="1778000" y="11557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Logs every action for a full audit trail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177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a Glance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292100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Powerful capabilities built for professional finance operations</a:t>
            </a:r>
            <a:endParaRPr lang="en-US" sz="3730" dirty="0"/>
          </a:p>
        </p:txBody>
      </p:sp>
      <p:sp>
        <p:nvSpPr>
          <p:cNvPr id="4" name="Shape 2"/>
          <p:cNvSpPr/>
          <p:nvPr/>
        </p:nvSpPr>
        <p:spPr>
          <a:xfrm>
            <a:off x="1651000" y="457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27000" y="127000"/>
                </a:moveTo>
                <a:cubicBezTo>
                  <a:pt x="127000" y="91877"/>
                  <a:pt x="98623" y="63500"/>
                  <a:pt x="63500" y="63500"/>
                </a:cubicBezTo>
                <a:cubicBezTo>
                  <a:pt x="28377" y="63500"/>
                  <a:pt x="0" y="91877"/>
                  <a:pt x="0" y="127000"/>
                </a:cubicBezTo>
                <a:lnTo>
                  <a:pt x="0" y="793750"/>
                </a:lnTo>
                <a:cubicBezTo>
                  <a:pt x="0" y="881459"/>
                  <a:pt x="71041" y="952500"/>
                  <a:pt x="158750" y="952500"/>
                </a:cubicBezTo>
                <a:lnTo>
                  <a:pt x="952500" y="952500"/>
                </a:lnTo>
                <a:cubicBezTo>
                  <a:pt x="987623" y="952500"/>
                  <a:pt x="1016000" y="924123"/>
                  <a:pt x="1016000" y="889000"/>
                </a:cubicBezTo>
                <a:cubicBezTo>
                  <a:pt x="1016000" y="853877"/>
                  <a:pt x="987623" y="825500"/>
                  <a:pt x="952500" y="825500"/>
                </a:cubicBezTo>
                <a:lnTo>
                  <a:pt x="158750" y="825500"/>
                </a:lnTo>
                <a:cubicBezTo>
                  <a:pt x="141288" y="825500"/>
                  <a:pt x="127000" y="811213"/>
                  <a:pt x="127000" y="793750"/>
                </a:cubicBezTo>
                <a:lnTo>
                  <a:pt x="127000" y="127000"/>
                </a:lnTo>
                <a:close/>
                <a:moveTo>
                  <a:pt x="933847" y="298847"/>
                </a:moveTo>
                <a:cubicBezTo>
                  <a:pt x="958652" y="274042"/>
                  <a:pt x="958652" y="233759"/>
                  <a:pt x="933847" y="208955"/>
                </a:cubicBezTo>
                <a:cubicBezTo>
                  <a:pt x="909042" y="184150"/>
                  <a:pt x="868759" y="184150"/>
                  <a:pt x="843955" y="208955"/>
                </a:cubicBezTo>
                <a:lnTo>
                  <a:pt x="635000" y="418108"/>
                </a:lnTo>
                <a:lnTo>
                  <a:pt x="521097" y="304403"/>
                </a:lnTo>
                <a:cubicBezTo>
                  <a:pt x="496292" y="279598"/>
                  <a:pt x="456009" y="279598"/>
                  <a:pt x="431205" y="304403"/>
                </a:cubicBezTo>
                <a:lnTo>
                  <a:pt x="240705" y="494903"/>
                </a:lnTo>
                <a:cubicBezTo>
                  <a:pt x="215900" y="519708"/>
                  <a:pt x="215900" y="559991"/>
                  <a:pt x="240705" y="584795"/>
                </a:cubicBezTo>
                <a:cubicBezTo>
                  <a:pt x="265509" y="609600"/>
                  <a:pt x="305792" y="609600"/>
                  <a:pt x="330597" y="584795"/>
                </a:cubicBezTo>
                <a:lnTo>
                  <a:pt x="476250" y="439142"/>
                </a:lnTo>
                <a:lnTo>
                  <a:pt x="590153" y="553045"/>
                </a:lnTo>
                <a:cubicBezTo>
                  <a:pt x="614958" y="577850"/>
                  <a:pt x="655241" y="577850"/>
                  <a:pt x="680045" y="553045"/>
                </a:cubicBezTo>
                <a:lnTo>
                  <a:pt x="934045" y="299045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249680" y="5969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4-Stage Escalation</a:t>
            </a:r>
            <a:endParaRPr lang="en-US" sz="4130" dirty="0"/>
          </a:p>
        </p:txBody>
      </p:sp>
      <p:sp>
        <p:nvSpPr>
          <p:cNvPr id="6" name="Text 4"/>
          <p:cNvSpPr/>
          <p:nvPr/>
        </p:nvSpPr>
        <p:spPr>
          <a:xfrm>
            <a:off x="1249680" y="6985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Warm → Polite → Formal → Stern tone progression based on invoice age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8890000" y="4572000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698500" y="0"/>
                </a:moveTo>
                <a:cubicBezTo>
                  <a:pt x="698500" y="-35123"/>
                  <a:pt x="670123" y="-63500"/>
                  <a:pt x="635000" y="-63500"/>
                </a:cubicBezTo>
                <a:cubicBezTo>
                  <a:pt x="599877" y="-63500"/>
                  <a:pt x="571500" y="-35123"/>
                  <a:pt x="571500" y="0"/>
                </a:cubicBezTo>
                <a:lnTo>
                  <a:pt x="571500" y="127000"/>
                </a:lnTo>
                <a:lnTo>
                  <a:pt x="381000" y="127000"/>
                </a:lnTo>
                <a:cubicBezTo>
                  <a:pt x="275828" y="127000"/>
                  <a:pt x="190500" y="212328"/>
                  <a:pt x="190500" y="317500"/>
                </a:cubicBezTo>
                <a:lnTo>
                  <a:pt x="190500" y="762000"/>
                </a:lnTo>
                <a:cubicBezTo>
                  <a:pt x="190500" y="867172"/>
                  <a:pt x="275828" y="952500"/>
                  <a:pt x="381000" y="952500"/>
                </a:cubicBezTo>
                <a:lnTo>
                  <a:pt x="889000" y="952500"/>
                </a:lnTo>
                <a:cubicBezTo>
                  <a:pt x="994172" y="952500"/>
                  <a:pt x="1079500" y="867172"/>
                  <a:pt x="1079500" y="762000"/>
                </a:cubicBezTo>
                <a:lnTo>
                  <a:pt x="1079500" y="317500"/>
                </a:lnTo>
                <a:cubicBezTo>
                  <a:pt x="1079500" y="212328"/>
                  <a:pt x="994172" y="127000"/>
                  <a:pt x="889000" y="127000"/>
                </a:cubicBezTo>
                <a:lnTo>
                  <a:pt x="698500" y="127000"/>
                </a:lnTo>
                <a:lnTo>
                  <a:pt x="698500" y="0"/>
                </a:lnTo>
                <a:close/>
                <a:moveTo>
                  <a:pt x="317500" y="730250"/>
                </a:moveTo>
                <a:cubicBezTo>
                  <a:pt x="317500" y="703858"/>
                  <a:pt x="338733" y="682625"/>
                  <a:pt x="365125" y="682625"/>
                </a:cubicBezTo>
                <a:lnTo>
                  <a:pt x="428625" y="682625"/>
                </a:lnTo>
                <a:cubicBezTo>
                  <a:pt x="455017" y="682625"/>
                  <a:pt x="476250" y="703858"/>
                  <a:pt x="476250" y="730250"/>
                </a:cubicBezTo>
                <a:cubicBezTo>
                  <a:pt x="476250" y="756642"/>
                  <a:pt x="455017" y="777875"/>
                  <a:pt x="428625" y="777875"/>
                </a:cubicBezTo>
                <a:lnTo>
                  <a:pt x="365125" y="777875"/>
                </a:lnTo>
                <a:cubicBezTo>
                  <a:pt x="338733" y="777875"/>
                  <a:pt x="317500" y="756642"/>
                  <a:pt x="317500" y="730250"/>
                </a:cubicBezTo>
                <a:close/>
                <a:moveTo>
                  <a:pt x="555625" y="730250"/>
                </a:moveTo>
                <a:cubicBezTo>
                  <a:pt x="555625" y="703858"/>
                  <a:pt x="576858" y="682625"/>
                  <a:pt x="603250" y="682625"/>
                </a:cubicBezTo>
                <a:lnTo>
                  <a:pt x="666750" y="682625"/>
                </a:lnTo>
                <a:cubicBezTo>
                  <a:pt x="693142" y="682625"/>
                  <a:pt x="714375" y="703858"/>
                  <a:pt x="714375" y="730250"/>
                </a:cubicBezTo>
                <a:cubicBezTo>
                  <a:pt x="714375" y="756642"/>
                  <a:pt x="693142" y="777875"/>
                  <a:pt x="666750" y="777875"/>
                </a:cubicBezTo>
                <a:lnTo>
                  <a:pt x="603250" y="777875"/>
                </a:lnTo>
                <a:cubicBezTo>
                  <a:pt x="576858" y="777875"/>
                  <a:pt x="555625" y="756642"/>
                  <a:pt x="555625" y="730250"/>
                </a:cubicBezTo>
                <a:close/>
                <a:moveTo>
                  <a:pt x="793750" y="730250"/>
                </a:moveTo>
                <a:cubicBezTo>
                  <a:pt x="793750" y="703858"/>
                  <a:pt x="814983" y="682625"/>
                  <a:pt x="841375" y="682625"/>
                </a:cubicBezTo>
                <a:lnTo>
                  <a:pt x="904875" y="682625"/>
                </a:lnTo>
                <a:cubicBezTo>
                  <a:pt x="931267" y="682625"/>
                  <a:pt x="952500" y="703858"/>
                  <a:pt x="952500" y="730250"/>
                </a:cubicBezTo>
                <a:cubicBezTo>
                  <a:pt x="952500" y="756642"/>
                  <a:pt x="931267" y="777875"/>
                  <a:pt x="904875" y="777875"/>
                </a:cubicBezTo>
                <a:lnTo>
                  <a:pt x="841375" y="777875"/>
                </a:lnTo>
                <a:cubicBezTo>
                  <a:pt x="814983" y="777875"/>
                  <a:pt x="793750" y="756642"/>
                  <a:pt x="793750" y="730250"/>
                </a:cubicBezTo>
                <a:close/>
                <a:moveTo>
                  <a:pt x="444500" y="349250"/>
                </a:moveTo>
                <a:cubicBezTo>
                  <a:pt x="497070" y="349250"/>
                  <a:pt x="539750" y="391930"/>
                  <a:pt x="539750" y="444500"/>
                </a:cubicBezTo>
                <a:cubicBezTo>
                  <a:pt x="539750" y="497070"/>
                  <a:pt x="497070" y="539750"/>
                  <a:pt x="444500" y="539750"/>
                </a:cubicBezTo>
                <a:cubicBezTo>
                  <a:pt x="391930" y="539750"/>
                  <a:pt x="349250" y="497070"/>
                  <a:pt x="349250" y="444500"/>
                </a:cubicBezTo>
                <a:cubicBezTo>
                  <a:pt x="349250" y="391930"/>
                  <a:pt x="391930" y="349250"/>
                  <a:pt x="444500" y="349250"/>
                </a:cubicBezTo>
                <a:close/>
                <a:moveTo>
                  <a:pt x="730250" y="444500"/>
                </a:moveTo>
                <a:cubicBezTo>
                  <a:pt x="730250" y="391930"/>
                  <a:pt x="772930" y="349250"/>
                  <a:pt x="825500" y="349250"/>
                </a:cubicBezTo>
                <a:cubicBezTo>
                  <a:pt x="878070" y="349250"/>
                  <a:pt x="920750" y="391930"/>
                  <a:pt x="920750" y="444500"/>
                </a:cubicBezTo>
                <a:cubicBezTo>
                  <a:pt x="920750" y="497070"/>
                  <a:pt x="878070" y="539750"/>
                  <a:pt x="825500" y="539750"/>
                </a:cubicBezTo>
                <a:cubicBezTo>
                  <a:pt x="772930" y="539750"/>
                  <a:pt x="730250" y="497070"/>
                  <a:pt x="730250" y="444500"/>
                </a:cubicBezTo>
                <a:close/>
                <a:moveTo>
                  <a:pt x="127000" y="444500"/>
                </a:moveTo>
                <a:cubicBezTo>
                  <a:pt x="127000" y="409377"/>
                  <a:pt x="98623" y="381000"/>
                  <a:pt x="63500" y="381000"/>
                </a:cubicBezTo>
                <a:cubicBezTo>
                  <a:pt x="28377" y="381000"/>
                  <a:pt x="0" y="409377"/>
                  <a:pt x="0" y="444500"/>
                </a:cubicBezTo>
                <a:lnTo>
                  <a:pt x="0" y="635000"/>
                </a:lnTo>
                <a:cubicBezTo>
                  <a:pt x="0" y="670123"/>
                  <a:pt x="28377" y="698500"/>
                  <a:pt x="63500" y="698500"/>
                </a:cubicBezTo>
                <a:cubicBezTo>
                  <a:pt x="98623" y="698500"/>
                  <a:pt x="127000" y="670123"/>
                  <a:pt x="127000" y="635000"/>
                </a:cubicBezTo>
                <a:lnTo>
                  <a:pt x="127000" y="444500"/>
                </a:lnTo>
                <a:close/>
                <a:moveTo>
                  <a:pt x="1206500" y="381000"/>
                </a:moveTo>
                <a:cubicBezTo>
                  <a:pt x="1171377" y="381000"/>
                  <a:pt x="1143000" y="409377"/>
                  <a:pt x="1143000" y="444500"/>
                </a:cubicBezTo>
                <a:lnTo>
                  <a:pt x="1143000" y="635000"/>
                </a:lnTo>
                <a:cubicBezTo>
                  <a:pt x="1143000" y="670123"/>
                  <a:pt x="1171377" y="698500"/>
                  <a:pt x="1206500" y="698500"/>
                </a:cubicBezTo>
                <a:cubicBezTo>
                  <a:pt x="1241623" y="698500"/>
                  <a:pt x="1270000" y="670123"/>
                  <a:pt x="1270000" y="635000"/>
                </a:cubicBezTo>
                <a:lnTo>
                  <a:pt x="1270000" y="444500"/>
                </a:lnTo>
                <a:cubicBezTo>
                  <a:pt x="1270000" y="409377"/>
                  <a:pt x="1241623" y="381000"/>
                  <a:pt x="1206500" y="3810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8128000" y="5969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Personalisation</a:t>
            </a:r>
            <a:endParaRPr lang="en-US" sz="4130" dirty="0"/>
          </a:p>
        </p:txBody>
      </p:sp>
      <p:sp>
        <p:nvSpPr>
          <p:cNvPr id="9" name="Text 7"/>
          <p:cNvSpPr/>
          <p:nvPr/>
        </p:nvSpPr>
        <p:spPr>
          <a:xfrm>
            <a:off x="8128000" y="6985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Gemini 2.0 Flash generates professional, context-aware emails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6446500" y="4572000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127000" y="63500"/>
                </a:moveTo>
                <a:cubicBezTo>
                  <a:pt x="127000" y="28377"/>
                  <a:pt x="98623" y="0"/>
                  <a:pt x="63500" y="0"/>
                </a:cubicBezTo>
                <a:cubicBezTo>
                  <a:pt x="28377" y="0"/>
                  <a:pt x="0" y="28377"/>
                  <a:pt x="0" y="63500"/>
                </a:cubicBezTo>
                <a:lnTo>
                  <a:pt x="0" y="952500"/>
                </a:lnTo>
                <a:cubicBezTo>
                  <a:pt x="0" y="987623"/>
                  <a:pt x="28377" y="1016000"/>
                  <a:pt x="63500" y="1016000"/>
                </a:cubicBezTo>
                <a:cubicBezTo>
                  <a:pt x="98623" y="1016000"/>
                  <a:pt x="127000" y="987623"/>
                  <a:pt x="127000" y="952500"/>
                </a:cubicBezTo>
                <a:lnTo>
                  <a:pt x="127000" y="711200"/>
                </a:lnTo>
                <a:lnTo>
                  <a:pt x="251420" y="673894"/>
                </a:lnTo>
                <a:cubicBezTo>
                  <a:pt x="334566" y="648891"/>
                  <a:pt x="424259" y="656630"/>
                  <a:pt x="501848" y="695523"/>
                </a:cubicBezTo>
                <a:cubicBezTo>
                  <a:pt x="586581" y="737989"/>
                  <a:pt x="685403" y="743148"/>
                  <a:pt x="774105" y="709811"/>
                </a:cubicBezTo>
                <a:lnTo>
                  <a:pt x="847725" y="682228"/>
                </a:lnTo>
                <a:cubicBezTo>
                  <a:pt x="872530" y="672902"/>
                  <a:pt x="889000" y="649287"/>
                  <a:pt x="889000" y="622697"/>
                </a:cubicBezTo>
                <a:lnTo>
                  <a:pt x="889000" y="131167"/>
                </a:lnTo>
                <a:cubicBezTo>
                  <a:pt x="889000" y="85527"/>
                  <a:pt x="840978" y="55761"/>
                  <a:pt x="800100" y="76200"/>
                </a:cubicBezTo>
                <a:lnTo>
                  <a:pt x="776684" y="87908"/>
                </a:lnTo>
                <a:cubicBezTo>
                  <a:pt x="687586" y="132556"/>
                  <a:pt x="582613" y="132556"/>
                  <a:pt x="493316" y="87908"/>
                </a:cubicBezTo>
                <a:cubicBezTo>
                  <a:pt x="421084" y="51792"/>
                  <a:pt x="337939" y="44648"/>
                  <a:pt x="260747" y="67866"/>
                </a:cubicBezTo>
                <a:lnTo>
                  <a:pt x="127000" y="107950"/>
                </a:lnTo>
                <a:lnTo>
                  <a:pt x="127000" y="6350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5494000" y="5969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Escalation Flagging</a:t>
            </a:r>
            <a:endParaRPr lang="en-US" sz="4130" dirty="0"/>
          </a:p>
        </p:txBody>
      </p:sp>
      <p:sp>
        <p:nvSpPr>
          <p:cNvPr id="12" name="Text 10"/>
          <p:cNvSpPr/>
          <p:nvPr/>
        </p:nvSpPr>
        <p:spPr>
          <a:xfrm>
            <a:off x="15494000" y="6985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30+ day invoices automatically routed to finance manager review</a:t>
            </a:r>
            <a:endParaRPr lang="en-US" sz="2930" dirty="0"/>
          </a:p>
        </p:txBody>
      </p:sp>
      <p:sp>
        <p:nvSpPr>
          <p:cNvPr id="13" name="Shape 11"/>
          <p:cNvSpPr/>
          <p:nvPr/>
        </p:nvSpPr>
        <p:spPr>
          <a:xfrm>
            <a:off x="1651000" y="9144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cubicBezTo>
                  <a:pt x="517128" y="0"/>
                  <a:pt x="526256" y="1984"/>
                  <a:pt x="534591" y="5755"/>
                </a:cubicBezTo>
                <a:lnTo>
                  <a:pt x="908447" y="164306"/>
                </a:lnTo>
                <a:cubicBezTo>
                  <a:pt x="952103" y="182761"/>
                  <a:pt x="984647" y="225822"/>
                  <a:pt x="984448" y="277813"/>
                </a:cubicBezTo>
                <a:cubicBezTo>
                  <a:pt x="983456" y="474663"/>
                  <a:pt x="902494" y="834827"/>
                  <a:pt x="560586" y="998538"/>
                </a:cubicBezTo>
                <a:cubicBezTo>
                  <a:pt x="527447" y="1014413"/>
                  <a:pt x="488950" y="1014413"/>
                  <a:pt x="455811" y="998538"/>
                </a:cubicBezTo>
                <a:cubicBezTo>
                  <a:pt x="113705" y="834827"/>
                  <a:pt x="32941" y="474663"/>
                  <a:pt x="31948" y="277813"/>
                </a:cubicBezTo>
                <a:cubicBezTo>
                  <a:pt x="31750" y="225822"/>
                  <a:pt x="64294" y="182761"/>
                  <a:pt x="107950" y="164306"/>
                </a:cubicBezTo>
                <a:lnTo>
                  <a:pt x="481608" y="5755"/>
                </a:lnTo>
                <a:cubicBezTo>
                  <a:pt x="489942" y="1984"/>
                  <a:pt x="498872" y="0"/>
                  <a:pt x="508000" y="0"/>
                </a:cubicBezTo>
                <a:close/>
                <a:moveTo>
                  <a:pt x="508000" y="132556"/>
                </a:moveTo>
                <a:lnTo>
                  <a:pt x="508000" y="882848"/>
                </a:lnTo>
                <a:cubicBezTo>
                  <a:pt x="781844" y="750292"/>
                  <a:pt x="855464" y="456605"/>
                  <a:pt x="857250" y="280789"/>
                </a:cubicBezTo>
                <a:lnTo>
                  <a:pt x="508000" y="132755"/>
                </a:lnTo>
                <a:lnTo>
                  <a:pt x="508000" y="132755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249680" y="10541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Immutable Audit Trail</a:t>
            </a:r>
            <a:endParaRPr lang="en-US" sz="4130" dirty="0"/>
          </a:p>
        </p:txBody>
      </p:sp>
      <p:sp>
        <p:nvSpPr>
          <p:cNvPr id="15" name="Text 13"/>
          <p:cNvSpPr/>
          <p:nvPr/>
        </p:nvSpPr>
        <p:spPr>
          <a:xfrm>
            <a:off x="1249680" y="11557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SHA-256 body hashing ensures tamper-proof compliance records</a:t>
            </a:r>
            <a:endParaRPr lang="en-US" sz="2930" dirty="0"/>
          </a:p>
        </p:txBody>
      </p:sp>
      <p:sp>
        <p:nvSpPr>
          <p:cNvPr id="16" name="Shape 14"/>
          <p:cNvSpPr/>
          <p:nvPr/>
        </p:nvSpPr>
        <p:spPr>
          <a:xfrm>
            <a:off x="9080500" y="9144000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571500" y="0"/>
                </a:moveTo>
                <a:lnTo>
                  <a:pt x="254000" y="0"/>
                </a:lnTo>
                <a:cubicBezTo>
                  <a:pt x="218877" y="0"/>
                  <a:pt x="190500" y="28377"/>
                  <a:pt x="190500" y="63500"/>
                </a:cubicBezTo>
                <a:cubicBezTo>
                  <a:pt x="190500" y="98623"/>
                  <a:pt x="218877" y="127000"/>
                  <a:pt x="254000" y="127000"/>
                </a:cubicBezTo>
                <a:lnTo>
                  <a:pt x="254000" y="427633"/>
                </a:lnTo>
                <a:lnTo>
                  <a:pt x="14883" y="845939"/>
                </a:lnTo>
                <a:cubicBezTo>
                  <a:pt x="5159" y="863203"/>
                  <a:pt x="0" y="882452"/>
                  <a:pt x="0" y="902295"/>
                </a:cubicBezTo>
                <a:cubicBezTo>
                  <a:pt x="0" y="965200"/>
                  <a:pt x="50800" y="1016000"/>
                  <a:pt x="113705" y="1016000"/>
                </a:cubicBezTo>
                <a:lnTo>
                  <a:pt x="775295" y="1016000"/>
                </a:lnTo>
                <a:cubicBezTo>
                  <a:pt x="838002" y="1016000"/>
                  <a:pt x="889000" y="965200"/>
                  <a:pt x="889000" y="902295"/>
                </a:cubicBezTo>
                <a:cubicBezTo>
                  <a:pt x="889000" y="882452"/>
                  <a:pt x="883841" y="863005"/>
                  <a:pt x="874117" y="845939"/>
                </a:cubicBezTo>
                <a:lnTo>
                  <a:pt x="635000" y="427633"/>
                </a:lnTo>
                <a:lnTo>
                  <a:pt x="635000" y="127000"/>
                </a:lnTo>
                <a:cubicBezTo>
                  <a:pt x="670123" y="127000"/>
                  <a:pt x="698500" y="98623"/>
                  <a:pt x="698500" y="63500"/>
                </a:cubicBezTo>
                <a:cubicBezTo>
                  <a:pt x="698500" y="28377"/>
                  <a:pt x="670123" y="0"/>
                  <a:pt x="635000" y="0"/>
                </a:cubicBezTo>
                <a:lnTo>
                  <a:pt x="571500" y="0"/>
                </a:lnTo>
                <a:close/>
                <a:moveTo>
                  <a:pt x="381000" y="427633"/>
                </a:moveTo>
                <a:lnTo>
                  <a:pt x="381000" y="127000"/>
                </a:lnTo>
                <a:lnTo>
                  <a:pt x="508000" y="127000"/>
                </a:lnTo>
                <a:lnTo>
                  <a:pt x="508000" y="427633"/>
                </a:lnTo>
                <a:cubicBezTo>
                  <a:pt x="508000" y="449659"/>
                  <a:pt x="513755" y="471488"/>
                  <a:pt x="524669" y="490736"/>
                </a:cubicBezTo>
                <a:lnTo>
                  <a:pt x="607219" y="635000"/>
                </a:lnTo>
                <a:lnTo>
                  <a:pt x="281781" y="635000"/>
                </a:lnTo>
                <a:lnTo>
                  <a:pt x="364331" y="490736"/>
                </a:lnTo>
                <a:cubicBezTo>
                  <a:pt x="375245" y="471488"/>
                  <a:pt x="381000" y="449858"/>
                  <a:pt x="381000" y="427633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7" name="Text 15"/>
          <p:cNvSpPr/>
          <p:nvPr/>
        </p:nvSpPr>
        <p:spPr>
          <a:xfrm>
            <a:off x="8128000" y="10541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Dry-Run Mode</a:t>
            </a:r>
            <a:endParaRPr lang="en-US" sz="4130" dirty="0"/>
          </a:p>
        </p:txBody>
      </p:sp>
      <p:sp>
        <p:nvSpPr>
          <p:cNvPr id="18" name="Text 16"/>
          <p:cNvSpPr/>
          <p:nvPr/>
        </p:nvSpPr>
        <p:spPr>
          <a:xfrm>
            <a:off x="8128000" y="11557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 testing environment with zero risk of accidental sends</a:t>
            </a:r>
            <a:endParaRPr lang="en-US" sz="2930" dirty="0"/>
          </a:p>
        </p:txBody>
      </p:sp>
      <p:sp>
        <p:nvSpPr>
          <p:cNvPr id="19" name="Shape 17"/>
          <p:cNvSpPr/>
          <p:nvPr/>
        </p:nvSpPr>
        <p:spPr>
          <a:xfrm>
            <a:off x="16383000" y="9144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508000"/>
                </a:moveTo>
                <a:cubicBezTo>
                  <a:pt x="0" y="227627"/>
                  <a:pt x="227627" y="0"/>
                  <a:pt x="508000" y="0"/>
                </a:cubicBezTo>
                <a:cubicBezTo>
                  <a:pt x="788373" y="0"/>
                  <a:pt x="1016000" y="227627"/>
                  <a:pt x="1016000" y="508000"/>
                </a:cubicBezTo>
                <a:cubicBezTo>
                  <a:pt x="1016000" y="788373"/>
                  <a:pt x="788373" y="1016000"/>
                  <a:pt x="508000" y="1016000"/>
                </a:cubicBezTo>
                <a:cubicBezTo>
                  <a:pt x="227627" y="1016000"/>
                  <a:pt x="0" y="788373"/>
                  <a:pt x="0" y="508000"/>
                </a:cubicBezTo>
                <a:close/>
                <a:moveTo>
                  <a:pt x="571500" y="190500"/>
                </a:moveTo>
                <a:cubicBezTo>
                  <a:pt x="571500" y="155453"/>
                  <a:pt x="543047" y="127000"/>
                  <a:pt x="508000" y="127000"/>
                </a:cubicBezTo>
                <a:cubicBezTo>
                  <a:pt x="472953" y="127000"/>
                  <a:pt x="444500" y="155453"/>
                  <a:pt x="444500" y="190500"/>
                </a:cubicBezTo>
                <a:cubicBezTo>
                  <a:pt x="444500" y="225547"/>
                  <a:pt x="472953" y="254000"/>
                  <a:pt x="508000" y="254000"/>
                </a:cubicBezTo>
                <a:cubicBezTo>
                  <a:pt x="543047" y="254000"/>
                  <a:pt x="571500" y="225547"/>
                  <a:pt x="571500" y="190500"/>
                </a:cubicBezTo>
                <a:close/>
                <a:moveTo>
                  <a:pt x="508000" y="825500"/>
                </a:moveTo>
                <a:cubicBezTo>
                  <a:pt x="578048" y="825500"/>
                  <a:pt x="635000" y="768548"/>
                  <a:pt x="635000" y="698500"/>
                </a:cubicBezTo>
                <a:cubicBezTo>
                  <a:pt x="635000" y="666353"/>
                  <a:pt x="623094" y="636786"/>
                  <a:pt x="603250" y="614561"/>
                </a:cubicBezTo>
                <a:lnTo>
                  <a:pt x="741164" y="338931"/>
                </a:lnTo>
                <a:cubicBezTo>
                  <a:pt x="752872" y="315317"/>
                  <a:pt x="743347" y="286742"/>
                  <a:pt x="719931" y="275034"/>
                </a:cubicBezTo>
                <a:cubicBezTo>
                  <a:pt x="696516" y="263327"/>
                  <a:pt x="667742" y="272852"/>
                  <a:pt x="656034" y="296267"/>
                </a:cubicBezTo>
                <a:lnTo>
                  <a:pt x="518120" y="571897"/>
                </a:lnTo>
                <a:cubicBezTo>
                  <a:pt x="514747" y="571698"/>
                  <a:pt x="511373" y="571500"/>
                  <a:pt x="508000" y="571500"/>
                </a:cubicBezTo>
                <a:cubicBezTo>
                  <a:pt x="437952" y="571500"/>
                  <a:pt x="381000" y="628452"/>
                  <a:pt x="381000" y="698500"/>
                </a:cubicBezTo>
                <a:cubicBezTo>
                  <a:pt x="381000" y="768548"/>
                  <a:pt x="437952" y="825500"/>
                  <a:pt x="508000" y="825500"/>
                </a:cubicBezTo>
                <a:close/>
                <a:moveTo>
                  <a:pt x="349250" y="285750"/>
                </a:moveTo>
                <a:cubicBezTo>
                  <a:pt x="349250" y="250703"/>
                  <a:pt x="320797" y="222250"/>
                  <a:pt x="285750" y="222250"/>
                </a:cubicBezTo>
                <a:cubicBezTo>
                  <a:pt x="250703" y="222250"/>
                  <a:pt x="222250" y="250703"/>
                  <a:pt x="222250" y="285750"/>
                </a:cubicBezTo>
                <a:cubicBezTo>
                  <a:pt x="222250" y="320797"/>
                  <a:pt x="250703" y="349250"/>
                  <a:pt x="285750" y="349250"/>
                </a:cubicBezTo>
                <a:cubicBezTo>
                  <a:pt x="320797" y="349250"/>
                  <a:pt x="349250" y="320797"/>
                  <a:pt x="349250" y="285750"/>
                </a:cubicBezTo>
                <a:close/>
                <a:moveTo>
                  <a:pt x="190500" y="571500"/>
                </a:moveTo>
                <a:cubicBezTo>
                  <a:pt x="225547" y="571500"/>
                  <a:pt x="254000" y="543047"/>
                  <a:pt x="254000" y="508000"/>
                </a:cubicBezTo>
                <a:cubicBezTo>
                  <a:pt x="254000" y="472953"/>
                  <a:pt x="225547" y="444500"/>
                  <a:pt x="190500" y="444500"/>
                </a:cubicBezTo>
                <a:cubicBezTo>
                  <a:pt x="155453" y="444500"/>
                  <a:pt x="127000" y="472953"/>
                  <a:pt x="127000" y="508000"/>
                </a:cubicBezTo>
                <a:cubicBezTo>
                  <a:pt x="127000" y="543047"/>
                  <a:pt x="155453" y="571500"/>
                  <a:pt x="190500" y="571500"/>
                </a:cubicBezTo>
                <a:close/>
                <a:moveTo>
                  <a:pt x="889000" y="508000"/>
                </a:moveTo>
                <a:cubicBezTo>
                  <a:pt x="889000" y="472953"/>
                  <a:pt x="860547" y="444500"/>
                  <a:pt x="825500" y="444500"/>
                </a:cubicBezTo>
                <a:cubicBezTo>
                  <a:pt x="790453" y="444500"/>
                  <a:pt x="762000" y="472953"/>
                  <a:pt x="762000" y="508000"/>
                </a:cubicBezTo>
                <a:cubicBezTo>
                  <a:pt x="762000" y="543047"/>
                  <a:pt x="790453" y="571500"/>
                  <a:pt x="825500" y="571500"/>
                </a:cubicBezTo>
                <a:cubicBezTo>
                  <a:pt x="860547" y="571500"/>
                  <a:pt x="889000" y="543047"/>
                  <a:pt x="889000" y="5080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15494000" y="10541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Dashboard</a:t>
            </a:r>
            <a:endParaRPr lang="en-US" sz="4130" dirty="0"/>
          </a:p>
        </p:txBody>
      </p:sp>
      <p:sp>
        <p:nvSpPr>
          <p:cNvPr id="21" name="Text 19"/>
          <p:cNvSpPr/>
          <p:nvPr/>
        </p:nvSpPr>
        <p:spPr>
          <a:xfrm>
            <a:off x="15494000" y="11557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metrics and monitoring for full operational visibility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LangGraph StateGraph pipeline — 6 sequential nodes, deterministic flow</a:t>
            </a:r>
            <a:endParaRPr lang="en-US" sz="3730" dirty="0"/>
          </a:p>
        </p:txBody>
      </p:sp>
      <p:sp>
        <p:nvSpPr>
          <p:cNvPr id="4" name="Shape 2"/>
          <p:cNvSpPr/>
          <p:nvPr/>
        </p:nvSpPr>
        <p:spPr>
          <a:xfrm>
            <a:off x="1244600" y="4572000"/>
            <a:ext cx="3302000" cy="1270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244600" y="4572000"/>
            <a:ext cx="3302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46600" y="5016500"/>
            <a:ext cx="635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5181600" y="4572000"/>
            <a:ext cx="3302000" cy="1270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5181600" y="4572000"/>
            <a:ext cx="3302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83600" y="5016500"/>
            <a:ext cx="635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9118600" y="4572000"/>
            <a:ext cx="3302000" cy="1270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9118600" y="4572000"/>
            <a:ext cx="3302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GENERATION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420600" y="5016500"/>
            <a:ext cx="635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3055600" y="4572000"/>
            <a:ext cx="3302000" cy="1270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3055600" y="4572000"/>
            <a:ext cx="3302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357600" y="5016500"/>
            <a:ext cx="635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6992600" y="4572000"/>
            <a:ext cx="3302000" cy="1270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7" name="Text 15"/>
          <p:cNvSpPr/>
          <p:nvPr/>
        </p:nvSpPr>
        <p:spPr>
          <a:xfrm>
            <a:off x="16992600" y="4572000"/>
            <a:ext cx="3302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LOGGER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294600" y="5016500"/>
            <a:ext cx="635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0929600" y="4572000"/>
            <a:ext cx="3302000" cy="1270000"/>
          </a:xfrm>
          <a:prstGeom prst="rect">
            <a:avLst/>
          </a:prstGeom>
          <a:solidFill>
            <a:srgbClr val="3D7C8E"/>
          </a:solidFill>
          <a:ln/>
        </p:spPr>
      </p:sp>
      <p:sp>
        <p:nvSpPr>
          <p:cNvPr id="20" name="Text 18"/>
          <p:cNvSpPr/>
          <p:nvPr/>
        </p:nvSpPr>
        <p:spPr>
          <a:xfrm>
            <a:off x="20929600" y="4572000"/>
            <a:ext cx="3302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ESCALATION FLAGGING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44600" y="6858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Reads CSV/Excel invoice data automatically</a:t>
            </a:r>
            <a:endParaRPr lang="en-US" sz="2930" dirty="0"/>
          </a:p>
        </p:txBody>
      </p:sp>
      <p:sp>
        <p:nvSpPr>
          <p:cNvPr id="22" name="Text 20"/>
          <p:cNvSpPr/>
          <p:nvPr/>
        </p:nvSpPr>
        <p:spPr>
          <a:xfrm>
            <a:off x="1244600" y="9144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Classifier: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Categorises invoices by days overdue</a:t>
            </a:r>
            <a:endParaRPr lang="en-US" sz="2930" dirty="0"/>
          </a:p>
        </p:txBody>
      </p:sp>
      <p:sp>
        <p:nvSpPr>
          <p:cNvPr id="23" name="Text 21"/>
          <p:cNvSpPr/>
          <p:nvPr/>
        </p:nvSpPr>
        <p:spPr>
          <a:xfrm>
            <a:off x="1244600" y="11430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Generation: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LLM crafts personalised follow-up emails</a:t>
            </a:r>
            <a:endParaRPr lang="en-US" sz="2930" dirty="0"/>
          </a:p>
        </p:txBody>
      </p:sp>
      <p:sp>
        <p:nvSpPr>
          <p:cNvPr id="24" name="Text 22"/>
          <p:cNvSpPr/>
          <p:nvPr/>
        </p:nvSpPr>
        <p:spPr>
          <a:xfrm>
            <a:off x="8890000" y="68580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Dispatches emails via configured provider</a:t>
            </a:r>
            <a:endParaRPr lang="en-US" sz="2930" dirty="0"/>
          </a:p>
        </p:txBody>
      </p:sp>
      <p:sp>
        <p:nvSpPr>
          <p:cNvPr id="25" name="Text 23"/>
          <p:cNvSpPr/>
          <p:nvPr/>
        </p:nvSpPr>
        <p:spPr>
          <a:xfrm>
            <a:off x="8890000" y="91440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Logger: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SHA-256 hashed immutable records</a:t>
            </a:r>
            <a:endParaRPr lang="en-US" sz="2930" dirty="0"/>
          </a:p>
        </p:txBody>
      </p:sp>
      <p:sp>
        <p:nvSpPr>
          <p:cNvPr id="26" name="Text 24"/>
          <p:cNvSpPr/>
          <p:nvPr/>
        </p:nvSpPr>
        <p:spPr>
          <a:xfrm>
            <a:off x="8890000" y="114300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Escalation: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30+ day invoices flagged for manager review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Tone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Escalation Matrix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Progressive communication strategy based on invoice overdue age</a:t>
            </a:r>
            <a:endParaRPr lang="en-US" sz="373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4600" y="4064000"/>
          <a:ext cx="21894800" cy="8636000"/>
        </p:xfrm>
        <a:graphic>
          <a:graphicData uri="http://schemas.openxmlformats.org/drawingml/2006/table">
            <a:tbl>
              <a:tblPr/>
              <a:tblGrid>
                <a:gridCol w="3941064"/>
                <a:gridCol w="3941064"/>
                <a:gridCol w="14012672"/>
              </a:tblGrid>
              <a:tr h="1038346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Overdue Period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Tone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Action &amp; Messaging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1519531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 – 7 days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9BBB5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Warm &amp; Friendly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Gentle reminder with pay-now link. Assumes oversight rather than delay.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519531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 – 14 days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4BACC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Polite but Firm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Requests payment confirmation and provides invoice details for reference.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</a:tr>
              <a:tr h="1519531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15 – 21 days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7964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Formal &amp; Serious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Demands response within 48 hours. Highlights potential service impact.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519531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22 – 30 days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C0504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Stern &amp; Urgent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Immediate payment demanded. Warns of escalation to collections.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</a:tr>
              <a:tr h="1519531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30+ days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C0504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Auto-Email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Flagged for legal/finance manager review. No automated email sent.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1524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Modern, lightweight tools chosen for speed, reliability, and cost-efficiency</a:t>
            </a:r>
            <a:endParaRPr lang="en-US" sz="373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4600" y="4064000"/>
          <a:ext cx="21894800" cy="8636000"/>
        </p:xfrm>
        <a:graphic>
          <a:graphicData uri="http://schemas.openxmlformats.org/drawingml/2006/table">
            <a:tbl>
              <a:tblPr/>
              <a:tblGrid>
                <a:gridCol w="6130544"/>
                <a:gridCol w="7882128"/>
                <a:gridCol w="7882128"/>
              </a:tblGrid>
              <a:tr h="104140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Technology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Purpose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LLM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Google Gemini 2.0 Flash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 tier, high-speed email generation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Agent Framework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LangGraph 0.2.x + LangChain 0.3.x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Deterministic state machine pipeline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Processing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pandas + openpyxl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CSV/Excel invoice ingestion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Validation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Pydantic v2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Structured output validation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Audit Storage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SQLite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Local, lightweight audit logging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Dashboard UI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Streamlit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Real-time metrics and monitoring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Secrets Mgmt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python-dotenv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Secure API key management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016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Mitigations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4191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Enterprise-grade safeguards built into every layer of the pipeline</a:t>
            </a:r>
            <a:endParaRPr lang="en-US" sz="3730" dirty="0"/>
          </a:p>
        </p:txBody>
      </p:sp>
      <p:pic>
        <p:nvPicPr>
          <p:cNvPr id="4" name="Image 0" descr="https://kimi-img.moonshot.cn/pub/slides/okc/sjjuykkadmel6/mnt/agents/output/finance-credit-agent/images/7_Cyber_security_and_personal_data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20262" r="20262" t="0" b="0"/>
          <a:stretch/>
        </p:blipFill>
        <p:spPr>
          <a:xfrm>
            <a:off x="1244600" y="5969000"/>
            <a:ext cx="6350000" cy="711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36000" y="61214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0" y="5969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INJECTION</a:t>
            </a:r>
            <a:endParaRPr lang="en-US" sz="4130" dirty="0"/>
          </a:p>
        </p:txBody>
      </p:sp>
      <p:sp>
        <p:nvSpPr>
          <p:cNvPr id="7" name="Text 4"/>
          <p:cNvSpPr/>
          <p:nvPr/>
        </p:nvSpPr>
        <p:spPr>
          <a:xfrm>
            <a:off x="9144000" y="6604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sanitisation + structured JSON output + Pydantic validation</a:t>
            </a:r>
            <a:endParaRPr lang="en-US" sz="2930" dirty="0"/>
          </a:p>
        </p:txBody>
      </p:sp>
      <p:sp>
        <p:nvSpPr>
          <p:cNvPr id="8" name="Shape 5"/>
          <p:cNvSpPr/>
          <p:nvPr/>
        </p:nvSpPr>
        <p:spPr>
          <a:xfrm>
            <a:off x="8636000" y="76454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0" y="7493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PRIVACY</a:t>
            </a:r>
            <a:endParaRPr lang="en-US" sz="4130" dirty="0"/>
          </a:p>
        </p:txBody>
      </p:sp>
      <p:sp>
        <p:nvSpPr>
          <p:cNvPr id="10" name="Text 7"/>
          <p:cNvSpPr/>
          <p:nvPr/>
        </p:nvSpPr>
        <p:spPr>
          <a:xfrm>
            <a:off x="9144000" y="8128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masking in logs, SHA-256 hashing of all email bodies</a:t>
            </a:r>
            <a:endParaRPr lang="en-US" sz="2930" dirty="0"/>
          </a:p>
        </p:txBody>
      </p:sp>
      <p:sp>
        <p:nvSpPr>
          <p:cNvPr id="11" name="Shape 8"/>
          <p:cNvSpPr/>
          <p:nvPr/>
        </p:nvSpPr>
        <p:spPr>
          <a:xfrm>
            <a:off x="8636000" y="91694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0" y="9017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KEY SAFETY</a:t>
            </a:r>
            <a:endParaRPr lang="en-US" sz="4130" dirty="0"/>
          </a:p>
        </p:txBody>
      </p:sp>
      <p:sp>
        <p:nvSpPr>
          <p:cNvPr id="13" name="Text 10"/>
          <p:cNvSpPr/>
          <p:nvPr/>
        </p:nvSpPr>
        <p:spPr>
          <a:xfrm>
            <a:off x="9144000" y="9652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.env + .gitignore — API keys never hardcoded in source</a:t>
            </a:r>
            <a:endParaRPr lang="en-US" sz="2930" dirty="0"/>
          </a:p>
        </p:txBody>
      </p:sp>
      <p:sp>
        <p:nvSpPr>
          <p:cNvPr id="14" name="Shape 11"/>
          <p:cNvSpPr/>
          <p:nvPr/>
        </p:nvSpPr>
        <p:spPr>
          <a:xfrm>
            <a:off x="8636000" y="106934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0" y="10541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HALLUCINATION GUARD</a:t>
            </a:r>
            <a:endParaRPr lang="en-US" sz="4130" dirty="0"/>
          </a:p>
        </p:txBody>
      </p:sp>
      <p:sp>
        <p:nvSpPr>
          <p:cNvPr id="16" name="Text 13"/>
          <p:cNvSpPr/>
          <p:nvPr/>
        </p:nvSpPr>
        <p:spPr>
          <a:xfrm>
            <a:off x="9144000" y="11176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Post-generation validation checks invoice number and amount accuracy</a:t>
            </a:r>
            <a:endParaRPr lang="en-US" sz="2930" dirty="0"/>
          </a:p>
        </p:txBody>
      </p:sp>
      <p:sp>
        <p:nvSpPr>
          <p:cNvPr id="17" name="Shape 14"/>
          <p:cNvSpPr/>
          <p:nvPr/>
        </p:nvSpPr>
        <p:spPr>
          <a:xfrm>
            <a:off x="8636000" y="122174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0" y="12065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DUPLICATE &amp; RATE PROTECTION</a:t>
            </a:r>
            <a:endParaRPr lang="en-US" sz="4130" dirty="0"/>
          </a:p>
        </p:txBody>
      </p:sp>
      <p:sp>
        <p:nvSpPr>
          <p:cNvPr id="19" name="Text 16"/>
          <p:cNvSpPr/>
          <p:nvPr/>
        </p:nvSpPr>
        <p:spPr>
          <a:xfrm>
            <a:off x="9144000" y="12700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log checked before every send; hard cap of 100 invoices per run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254000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Measurable improvements for the finance team's daily operations</a:t>
            </a:r>
            <a:endParaRPr lang="en-US" sz="3730" dirty="0"/>
          </a:p>
        </p:txBody>
      </p:sp>
      <p:sp>
        <p:nvSpPr>
          <p:cNvPr id="4" name="Shape 2"/>
          <p:cNvSpPr/>
          <p:nvPr/>
        </p:nvSpPr>
        <p:spPr>
          <a:xfrm>
            <a:off x="1524000" y="4826000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825302" y="417711"/>
                </a:moveTo>
                <a:cubicBezTo>
                  <a:pt x="849511" y="411163"/>
                  <a:pt x="874911" y="422672"/>
                  <a:pt x="885825" y="445095"/>
                </a:cubicBezTo>
                <a:lnTo>
                  <a:pt x="922734" y="519708"/>
                </a:lnTo>
                <a:cubicBezTo>
                  <a:pt x="943173" y="522486"/>
                  <a:pt x="963216" y="528042"/>
                  <a:pt x="982067" y="535781"/>
                </a:cubicBezTo>
                <a:lnTo>
                  <a:pt x="1051520" y="489545"/>
                </a:lnTo>
                <a:cubicBezTo>
                  <a:pt x="1072356" y="475655"/>
                  <a:pt x="1099939" y="478433"/>
                  <a:pt x="1117600" y="496094"/>
                </a:cubicBezTo>
                <a:lnTo>
                  <a:pt x="1155700" y="534194"/>
                </a:lnTo>
                <a:cubicBezTo>
                  <a:pt x="1173361" y="551855"/>
                  <a:pt x="1176139" y="579636"/>
                  <a:pt x="1162248" y="600273"/>
                </a:cubicBezTo>
                <a:lnTo>
                  <a:pt x="1116013" y="669528"/>
                </a:lnTo>
                <a:cubicBezTo>
                  <a:pt x="1119783" y="678855"/>
                  <a:pt x="1123156" y="688578"/>
                  <a:pt x="1125934" y="698698"/>
                </a:cubicBezTo>
                <a:cubicBezTo>
                  <a:pt x="1128713" y="708819"/>
                  <a:pt x="1130498" y="718741"/>
                  <a:pt x="1131888" y="728861"/>
                </a:cubicBezTo>
                <a:lnTo>
                  <a:pt x="1206698" y="765770"/>
                </a:lnTo>
                <a:cubicBezTo>
                  <a:pt x="1229122" y="776883"/>
                  <a:pt x="1240631" y="802283"/>
                  <a:pt x="1234083" y="826294"/>
                </a:cubicBezTo>
                <a:lnTo>
                  <a:pt x="1220192" y="878284"/>
                </a:lnTo>
                <a:cubicBezTo>
                  <a:pt x="1213644" y="902295"/>
                  <a:pt x="1191220" y="918567"/>
                  <a:pt x="1166217" y="916980"/>
                </a:cubicBezTo>
                <a:lnTo>
                  <a:pt x="1082873" y="911622"/>
                </a:lnTo>
                <a:cubicBezTo>
                  <a:pt x="1070372" y="927695"/>
                  <a:pt x="1055886" y="942578"/>
                  <a:pt x="1039416" y="955278"/>
                </a:cubicBezTo>
                <a:lnTo>
                  <a:pt x="1044773" y="1038423"/>
                </a:lnTo>
                <a:cubicBezTo>
                  <a:pt x="1046361" y="1063427"/>
                  <a:pt x="1030089" y="1086048"/>
                  <a:pt x="1006078" y="1092398"/>
                </a:cubicBezTo>
                <a:lnTo>
                  <a:pt x="954088" y="1106289"/>
                </a:lnTo>
                <a:cubicBezTo>
                  <a:pt x="929878" y="1112838"/>
                  <a:pt x="904677" y="1101328"/>
                  <a:pt x="893564" y="1078905"/>
                </a:cubicBezTo>
                <a:lnTo>
                  <a:pt x="856655" y="1004292"/>
                </a:lnTo>
                <a:cubicBezTo>
                  <a:pt x="836216" y="1001514"/>
                  <a:pt x="816173" y="995958"/>
                  <a:pt x="797322" y="988219"/>
                </a:cubicBezTo>
                <a:lnTo>
                  <a:pt x="727869" y="1034455"/>
                </a:lnTo>
                <a:cubicBezTo>
                  <a:pt x="707033" y="1048345"/>
                  <a:pt x="679450" y="1045567"/>
                  <a:pt x="661789" y="1027906"/>
                </a:cubicBezTo>
                <a:lnTo>
                  <a:pt x="623689" y="989806"/>
                </a:lnTo>
                <a:cubicBezTo>
                  <a:pt x="606028" y="972145"/>
                  <a:pt x="603250" y="944563"/>
                  <a:pt x="617141" y="923727"/>
                </a:cubicBezTo>
                <a:lnTo>
                  <a:pt x="663377" y="854273"/>
                </a:lnTo>
                <a:cubicBezTo>
                  <a:pt x="659606" y="844947"/>
                  <a:pt x="656233" y="835223"/>
                  <a:pt x="653455" y="825103"/>
                </a:cubicBezTo>
                <a:cubicBezTo>
                  <a:pt x="650677" y="814983"/>
                  <a:pt x="648891" y="804863"/>
                  <a:pt x="647502" y="794941"/>
                </a:cubicBezTo>
                <a:lnTo>
                  <a:pt x="572691" y="758031"/>
                </a:lnTo>
                <a:cubicBezTo>
                  <a:pt x="550267" y="746919"/>
                  <a:pt x="538956" y="721519"/>
                  <a:pt x="545306" y="697508"/>
                </a:cubicBezTo>
                <a:lnTo>
                  <a:pt x="559197" y="645517"/>
                </a:lnTo>
                <a:cubicBezTo>
                  <a:pt x="565745" y="621506"/>
                  <a:pt x="588169" y="605234"/>
                  <a:pt x="613172" y="606822"/>
                </a:cubicBezTo>
                <a:lnTo>
                  <a:pt x="696317" y="612180"/>
                </a:lnTo>
                <a:cubicBezTo>
                  <a:pt x="708819" y="596106"/>
                  <a:pt x="723305" y="581223"/>
                  <a:pt x="739775" y="568523"/>
                </a:cubicBezTo>
                <a:lnTo>
                  <a:pt x="734417" y="485577"/>
                </a:lnTo>
                <a:cubicBezTo>
                  <a:pt x="732830" y="460573"/>
                  <a:pt x="749102" y="437952"/>
                  <a:pt x="773113" y="431602"/>
                </a:cubicBezTo>
                <a:lnTo>
                  <a:pt x="825103" y="417711"/>
                </a:lnTo>
                <a:close/>
                <a:moveTo>
                  <a:pt x="889794" y="674688"/>
                </a:moveTo>
                <a:cubicBezTo>
                  <a:pt x="841605" y="674742"/>
                  <a:pt x="802526" y="713910"/>
                  <a:pt x="802580" y="762099"/>
                </a:cubicBezTo>
                <a:cubicBezTo>
                  <a:pt x="802635" y="810288"/>
                  <a:pt x="841803" y="849367"/>
                  <a:pt x="889992" y="849313"/>
                </a:cubicBezTo>
                <a:cubicBezTo>
                  <a:pt x="938181" y="849258"/>
                  <a:pt x="977260" y="810090"/>
                  <a:pt x="977205" y="761901"/>
                </a:cubicBezTo>
                <a:cubicBezTo>
                  <a:pt x="977151" y="713712"/>
                  <a:pt x="937983" y="674633"/>
                  <a:pt x="889794" y="674688"/>
                </a:cubicBezTo>
                <a:close/>
                <a:moveTo>
                  <a:pt x="446286" y="-90289"/>
                </a:moveTo>
                <a:lnTo>
                  <a:pt x="498277" y="-76398"/>
                </a:lnTo>
                <a:cubicBezTo>
                  <a:pt x="522288" y="-69850"/>
                  <a:pt x="538559" y="-47228"/>
                  <a:pt x="536972" y="-22423"/>
                </a:cubicBezTo>
                <a:lnTo>
                  <a:pt x="531614" y="60523"/>
                </a:lnTo>
                <a:cubicBezTo>
                  <a:pt x="548084" y="73223"/>
                  <a:pt x="562570" y="87908"/>
                  <a:pt x="575072" y="104180"/>
                </a:cubicBezTo>
                <a:lnTo>
                  <a:pt x="658416" y="98822"/>
                </a:lnTo>
                <a:cubicBezTo>
                  <a:pt x="683220" y="97234"/>
                  <a:pt x="705842" y="113506"/>
                  <a:pt x="712391" y="137517"/>
                </a:cubicBezTo>
                <a:lnTo>
                  <a:pt x="726281" y="189508"/>
                </a:lnTo>
                <a:cubicBezTo>
                  <a:pt x="732631" y="213519"/>
                  <a:pt x="721320" y="238919"/>
                  <a:pt x="698897" y="250031"/>
                </a:cubicBezTo>
                <a:lnTo>
                  <a:pt x="624086" y="286941"/>
                </a:lnTo>
                <a:cubicBezTo>
                  <a:pt x="622697" y="297061"/>
                  <a:pt x="620713" y="307181"/>
                  <a:pt x="618133" y="317103"/>
                </a:cubicBezTo>
                <a:cubicBezTo>
                  <a:pt x="615553" y="327025"/>
                  <a:pt x="611981" y="336947"/>
                  <a:pt x="608211" y="346273"/>
                </a:cubicBezTo>
                <a:lnTo>
                  <a:pt x="654447" y="415727"/>
                </a:lnTo>
                <a:cubicBezTo>
                  <a:pt x="668338" y="436563"/>
                  <a:pt x="665559" y="464145"/>
                  <a:pt x="647898" y="481806"/>
                </a:cubicBezTo>
                <a:lnTo>
                  <a:pt x="609798" y="519906"/>
                </a:lnTo>
                <a:cubicBezTo>
                  <a:pt x="592138" y="537567"/>
                  <a:pt x="564555" y="540345"/>
                  <a:pt x="543719" y="526455"/>
                </a:cubicBezTo>
                <a:lnTo>
                  <a:pt x="474266" y="480219"/>
                </a:lnTo>
                <a:cubicBezTo>
                  <a:pt x="455414" y="487958"/>
                  <a:pt x="435372" y="493514"/>
                  <a:pt x="414933" y="496292"/>
                </a:cubicBezTo>
                <a:lnTo>
                  <a:pt x="378023" y="570905"/>
                </a:lnTo>
                <a:cubicBezTo>
                  <a:pt x="366911" y="593328"/>
                  <a:pt x="341511" y="604639"/>
                  <a:pt x="317500" y="598289"/>
                </a:cubicBezTo>
                <a:lnTo>
                  <a:pt x="265509" y="584398"/>
                </a:lnTo>
                <a:cubicBezTo>
                  <a:pt x="241300" y="577850"/>
                  <a:pt x="225227" y="555228"/>
                  <a:pt x="226814" y="530423"/>
                </a:cubicBezTo>
                <a:lnTo>
                  <a:pt x="232172" y="447278"/>
                </a:lnTo>
                <a:cubicBezTo>
                  <a:pt x="215702" y="434578"/>
                  <a:pt x="201216" y="419894"/>
                  <a:pt x="188714" y="403622"/>
                </a:cubicBezTo>
                <a:lnTo>
                  <a:pt x="105370" y="408980"/>
                </a:lnTo>
                <a:cubicBezTo>
                  <a:pt x="80566" y="410567"/>
                  <a:pt x="57944" y="394295"/>
                  <a:pt x="51395" y="370284"/>
                </a:cubicBezTo>
                <a:lnTo>
                  <a:pt x="37505" y="318294"/>
                </a:lnTo>
                <a:cubicBezTo>
                  <a:pt x="31155" y="294283"/>
                  <a:pt x="42466" y="268883"/>
                  <a:pt x="64889" y="257770"/>
                </a:cubicBezTo>
                <a:lnTo>
                  <a:pt x="139700" y="220861"/>
                </a:lnTo>
                <a:cubicBezTo>
                  <a:pt x="141089" y="210741"/>
                  <a:pt x="143073" y="200819"/>
                  <a:pt x="145653" y="190698"/>
                </a:cubicBezTo>
                <a:cubicBezTo>
                  <a:pt x="148431" y="180578"/>
                  <a:pt x="151606" y="170855"/>
                  <a:pt x="155575" y="161528"/>
                </a:cubicBezTo>
                <a:lnTo>
                  <a:pt x="109339" y="92273"/>
                </a:lnTo>
                <a:cubicBezTo>
                  <a:pt x="95448" y="71438"/>
                  <a:pt x="98227" y="43855"/>
                  <a:pt x="115888" y="26194"/>
                </a:cubicBezTo>
                <a:lnTo>
                  <a:pt x="153988" y="-11906"/>
                </a:lnTo>
                <a:cubicBezTo>
                  <a:pt x="171648" y="-29567"/>
                  <a:pt x="199231" y="-32345"/>
                  <a:pt x="220067" y="-18455"/>
                </a:cubicBezTo>
                <a:lnTo>
                  <a:pt x="289520" y="27781"/>
                </a:lnTo>
                <a:cubicBezTo>
                  <a:pt x="308372" y="20042"/>
                  <a:pt x="328414" y="14486"/>
                  <a:pt x="348853" y="11708"/>
                </a:cubicBezTo>
                <a:lnTo>
                  <a:pt x="385762" y="-62905"/>
                </a:lnTo>
                <a:cubicBezTo>
                  <a:pt x="396875" y="-85328"/>
                  <a:pt x="422077" y="-96639"/>
                  <a:pt x="446286" y="-90289"/>
                </a:cubicBezTo>
                <a:close/>
                <a:moveTo>
                  <a:pt x="381794" y="166688"/>
                </a:moveTo>
                <a:cubicBezTo>
                  <a:pt x="333605" y="166688"/>
                  <a:pt x="294481" y="205811"/>
                  <a:pt x="294481" y="254000"/>
                </a:cubicBezTo>
                <a:cubicBezTo>
                  <a:pt x="294481" y="302189"/>
                  <a:pt x="333605" y="341313"/>
                  <a:pt x="381794" y="341313"/>
                </a:cubicBezTo>
                <a:cubicBezTo>
                  <a:pt x="429983" y="341313"/>
                  <a:pt x="469106" y="302189"/>
                  <a:pt x="469106" y="254000"/>
                </a:cubicBezTo>
                <a:cubicBezTo>
                  <a:pt x="469106" y="205811"/>
                  <a:pt x="429983" y="166688"/>
                  <a:pt x="381794" y="166688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249680" y="6223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AUTOMATION</a:t>
            </a:r>
            <a:endParaRPr lang="en-US" sz="4130" dirty="0"/>
          </a:p>
        </p:txBody>
      </p:sp>
      <p:sp>
        <p:nvSpPr>
          <p:cNvPr id="6" name="Text 4"/>
          <p:cNvSpPr/>
          <p:nvPr/>
        </p:nvSpPr>
        <p:spPr>
          <a:xfrm>
            <a:off x="1249680" y="7239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Completely automated overdue invoice follow-up pipeline from ingestion to send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8890000" y="4826000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127000" y="222250"/>
                </a:moveTo>
                <a:cubicBezTo>
                  <a:pt x="127000" y="169664"/>
                  <a:pt x="169664" y="127000"/>
                  <a:pt x="222250" y="127000"/>
                </a:cubicBezTo>
                <a:lnTo>
                  <a:pt x="1047750" y="127000"/>
                </a:lnTo>
                <a:cubicBezTo>
                  <a:pt x="1100336" y="127000"/>
                  <a:pt x="1143000" y="169664"/>
                  <a:pt x="1143000" y="222250"/>
                </a:cubicBezTo>
                <a:lnTo>
                  <a:pt x="1143000" y="383778"/>
                </a:lnTo>
                <a:cubicBezTo>
                  <a:pt x="1094581" y="361553"/>
                  <a:pt x="1041003" y="349250"/>
                  <a:pt x="984250" y="349250"/>
                </a:cubicBezTo>
                <a:cubicBezTo>
                  <a:pt x="810220" y="349250"/>
                  <a:pt x="663377" y="465931"/>
                  <a:pt x="617736" y="625475"/>
                </a:cubicBezTo>
                <a:cubicBezTo>
                  <a:pt x="603647" y="622895"/>
                  <a:pt x="589756" y="617141"/>
                  <a:pt x="577850" y="608013"/>
                </a:cubicBezTo>
                <a:lnTo>
                  <a:pt x="165100" y="298450"/>
                </a:lnTo>
                <a:cubicBezTo>
                  <a:pt x="141089" y="280392"/>
                  <a:pt x="127000" y="252214"/>
                  <a:pt x="127000" y="222250"/>
                </a:cubicBezTo>
                <a:close/>
                <a:moveTo>
                  <a:pt x="603250" y="730250"/>
                </a:moveTo>
                <a:cubicBezTo>
                  <a:pt x="603250" y="787003"/>
                  <a:pt x="615553" y="840581"/>
                  <a:pt x="637778" y="889000"/>
                </a:cubicBezTo>
                <a:lnTo>
                  <a:pt x="254000" y="889000"/>
                </a:lnTo>
                <a:cubicBezTo>
                  <a:pt x="183952" y="889000"/>
                  <a:pt x="127000" y="832048"/>
                  <a:pt x="127000" y="762000"/>
                </a:cubicBezTo>
                <a:lnTo>
                  <a:pt x="127000" y="388938"/>
                </a:lnTo>
                <a:lnTo>
                  <a:pt x="520700" y="684213"/>
                </a:lnTo>
                <a:cubicBezTo>
                  <a:pt x="545703" y="702866"/>
                  <a:pt x="574080" y="714772"/>
                  <a:pt x="603448" y="719733"/>
                </a:cubicBezTo>
                <a:cubicBezTo>
                  <a:pt x="603448" y="723305"/>
                  <a:pt x="603250" y="726678"/>
                  <a:pt x="603250" y="730250"/>
                </a:cubicBezTo>
                <a:close/>
                <a:moveTo>
                  <a:pt x="698500" y="730250"/>
                </a:moveTo>
                <a:cubicBezTo>
                  <a:pt x="698500" y="572540"/>
                  <a:pt x="826540" y="444500"/>
                  <a:pt x="984250" y="444500"/>
                </a:cubicBezTo>
                <a:cubicBezTo>
                  <a:pt x="1141960" y="444500"/>
                  <a:pt x="1270000" y="572540"/>
                  <a:pt x="1270000" y="730250"/>
                </a:cubicBezTo>
                <a:cubicBezTo>
                  <a:pt x="1270000" y="887960"/>
                  <a:pt x="1141960" y="1016000"/>
                  <a:pt x="984250" y="1016000"/>
                </a:cubicBezTo>
                <a:cubicBezTo>
                  <a:pt x="826540" y="1016000"/>
                  <a:pt x="698500" y="887960"/>
                  <a:pt x="698500" y="730250"/>
                </a:cubicBezTo>
                <a:close/>
                <a:moveTo>
                  <a:pt x="1098153" y="609402"/>
                </a:moveTo>
                <a:cubicBezTo>
                  <a:pt x="1084064" y="599083"/>
                  <a:pt x="1064022" y="602258"/>
                  <a:pt x="1053703" y="616347"/>
                </a:cubicBezTo>
                <a:lnTo>
                  <a:pt x="948531" y="761008"/>
                </a:lnTo>
                <a:lnTo>
                  <a:pt x="895350" y="707827"/>
                </a:lnTo>
                <a:cubicBezTo>
                  <a:pt x="883047" y="695523"/>
                  <a:pt x="862806" y="695523"/>
                  <a:pt x="850503" y="707827"/>
                </a:cubicBezTo>
                <a:cubicBezTo>
                  <a:pt x="838200" y="720130"/>
                  <a:pt x="838200" y="740370"/>
                  <a:pt x="850503" y="752673"/>
                </a:cubicBezTo>
                <a:lnTo>
                  <a:pt x="929878" y="832048"/>
                </a:lnTo>
                <a:cubicBezTo>
                  <a:pt x="936427" y="838597"/>
                  <a:pt x="945555" y="841970"/>
                  <a:pt x="954881" y="841177"/>
                </a:cubicBezTo>
                <a:cubicBezTo>
                  <a:pt x="964208" y="840383"/>
                  <a:pt x="972542" y="835620"/>
                  <a:pt x="978098" y="828278"/>
                </a:cubicBezTo>
                <a:lnTo>
                  <a:pt x="1105098" y="653653"/>
                </a:lnTo>
                <a:cubicBezTo>
                  <a:pt x="1115417" y="639564"/>
                  <a:pt x="1112242" y="619522"/>
                  <a:pt x="1098153" y="609402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8128000" y="6223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QUALITY</a:t>
            </a:r>
            <a:endParaRPr lang="en-US" sz="4130" dirty="0"/>
          </a:p>
        </p:txBody>
      </p:sp>
      <p:sp>
        <p:nvSpPr>
          <p:cNvPr id="9" name="Text 7"/>
          <p:cNvSpPr/>
          <p:nvPr/>
        </p:nvSpPr>
        <p:spPr>
          <a:xfrm>
            <a:off x="8128000" y="7239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Professional, consistent communication at every escalation stage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6383000" y="4826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cubicBezTo>
                  <a:pt x="517128" y="0"/>
                  <a:pt x="526256" y="1984"/>
                  <a:pt x="534591" y="5755"/>
                </a:cubicBezTo>
                <a:lnTo>
                  <a:pt x="908447" y="164306"/>
                </a:lnTo>
                <a:cubicBezTo>
                  <a:pt x="952103" y="182761"/>
                  <a:pt x="984647" y="225822"/>
                  <a:pt x="984448" y="277813"/>
                </a:cubicBezTo>
                <a:cubicBezTo>
                  <a:pt x="983456" y="474663"/>
                  <a:pt x="902494" y="834827"/>
                  <a:pt x="560586" y="998538"/>
                </a:cubicBezTo>
                <a:cubicBezTo>
                  <a:pt x="527447" y="1014413"/>
                  <a:pt x="488950" y="1014413"/>
                  <a:pt x="455811" y="998538"/>
                </a:cubicBezTo>
                <a:cubicBezTo>
                  <a:pt x="113705" y="834827"/>
                  <a:pt x="32941" y="474663"/>
                  <a:pt x="31948" y="277813"/>
                </a:cubicBezTo>
                <a:cubicBezTo>
                  <a:pt x="31750" y="225822"/>
                  <a:pt x="64294" y="182761"/>
                  <a:pt x="107950" y="164306"/>
                </a:cubicBezTo>
                <a:lnTo>
                  <a:pt x="481608" y="5755"/>
                </a:lnTo>
                <a:cubicBezTo>
                  <a:pt x="489942" y="1984"/>
                  <a:pt x="498872" y="0"/>
                  <a:pt x="508000" y="0"/>
                </a:cubicBezTo>
                <a:close/>
                <a:moveTo>
                  <a:pt x="508000" y="132556"/>
                </a:moveTo>
                <a:lnTo>
                  <a:pt x="508000" y="882848"/>
                </a:lnTo>
                <a:cubicBezTo>
                  <a:pt x="781844" y="750292"/>
                  <a:pt x="855464" y="456605"/>
                  <a:pt x="857250" y="280789"/>
                </a:cubicBezTo>
                <a:lnTo>
                  <a:pt x="508000" y="132755"/>
                </a:lnTo>
                <a:lnTo>
                  <a:pt x="508000" y="132755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5494000" y="6223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ZERO-RISK TESTING</a:t>
            </a:r>
            <a:endParaRPr lang="en-US" sz="4130" dirty="0"/>
          </a:p>
        </p:txBody>
      </p:sp>
      <p:sp>
        <p:nvSpPr>
          <p:cNvPr id="12" name="Text 10"/>
          <p:cNvSpPr/>
          <p:nvPr/>
        </p:nvSpPr>
        <p:spPr>
          <a:xfrm>
            <a:off x="15494000" y="7239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Dry-run mode eliminates risk of accidental live email sends</a:t>
            </a:r>
            <a:endParaRPr lang="en-US" sz="2930" dirty="0"/>
          </a:p>
        </p:txBody>
      </p:sp>
      <p:sp>
        <p:nvSpPr>
          <p:cNvPr id="13" name="Shape 11"/>
          <p:cNvSpPr/>
          <p:nvPr/>
        </p:nvSpPr>
        <p:spPr>
          <a:xfrm>
            <a:off x="1778000" y="9398000"/>
            <a:ext cx="762000" cy="1016000"/>
          </a:xfrm>
          <a:custGeom>
            <a:avLst/>
            <a:gdLst/>
            <a:ahLst/>
            <a:cxnLst/>
            <a:rect l="l" t="t" r="r" b="b"/>
            <a:pathLst>
              <a:path w="762000" h="1016000">
                <a:moveTo>
                  <a:pt x="617934" y="63500"/>
                </a:moveTo>
                <a:lnTo>
                  <a:pt x="635000" y="63500"/>
                </a:lnTo>
                <a:cubicBezTo>
                  <a:pt x="705048" y="63500"/>
                  <a:pt x="762000" y="120452"/>
                  <a:pt x="762000" y="190500"/>
                </a:cubicBezTo>
                <a:lnTo>
                  <a:pt x="762000" y="889000"/>
                </a:lnTo>
                <a:cubicBezTo>
                  <a:pt x="762000" y="959048"/>
                  <a:pt x="705048" y="1016000"/>
                  <a:pt x="635000" y="1016000"/>
                </a:cubicBezTo>
                <a:lnTo>
                  <a:pt x="127000" y="1016000"/>
                </a:lnTo>
                <a:cubicBezTo>
                  <a:pt x="56952" y="1016000"/>
                  <a:pt x="0" y="959048"/>
                  <a:pt x="0" y="889000"/>
                </a:cubicBezTo>
                <a:lnTo>
                  <a:pt x="0" y="190500"/>
                </a:lnTo>
                <a:cubicBezTo>
                  <a:pt x="0" y="120452"/>
                  <a:pt x="56952" y="63500"/>
                  <a:pt x="127000" y="63500"/>
                </a:cubicBezTo>
                <a:lnTo>
                  <a:pt x="144066" y="63500"/>
                </a:lnTo>
                <a:cubicBezTo>
                  <a:pt x="165894" y="25598"/>
                  <a:pt x="206970" y="0"/>
                  <a:pt x="254000" y="0"/>
                </a:cubicBezTo>
                <a:lnTo>
                  <a:pt x="508000" y="0"/>
                </a:lnTo>
                <a:cubicBezTo>
                  <a:pt x="555030" y="0"/>
                  <a:pt x="596106" y="25598"/>
                  <a:pt x="617934" y="63500"/>
                </a:cubicBezTo>
                <a:close/>
                <a:moveTo>
                  <a:pt x="492125" y="222250"/>
                </a:moveTo>
                <a:cubicBezTo>
                  <a:pt x="518517" y="222250"/>
                  <a:pt x="539750" y="201017"/>
                  <a:pt x="539750" y="174625"/>
                </a:cubicBezTo>
                <a:cubicBezTo>
                  <a:pt x="539750" y="148233"/>
                  <a:pt x="518517" y="127000"/>
                  <a:pt x="492125" y="127000"/>
                </a:cubicBezTo>
                <a:lnTo>
                  <a:pt x="269875" y="127000"/>
                </a:lnTo>
                <a:cubicBezTo>
                  <a:pt x="243483" y="127000"/>
                  <a:pt x="222250" y="148233"/>
                  <a:pt x="222250" y="174625"/>
                </a:cubicBezTo>
                <a:cubicBezTo>
                  <a:pt x="222250" y="201017"/>
                  <a:pt x="243483" y="222250"/>
                  <a:pt x="269875" y="222250"/>
                </a:cubicBezTo>
                <a:lnTo>
                  <a:pt x="492125" y="222250"/>
                </a:lnTo>
                <a:close/>
                <a:moveTo>
                  <a:pt x="548481" y="517327"/>
                </a:moveTo>
                <a:cubicBezTo>
                  <a:pt x="562372" y="495102"/>
                  <a:pt x="555625" y="465733"/>
                  <a:pt x="533400" y="451644"/>
                </a:cubicBezTo>
                <a:cubicBezTo>
                  <a:pt x="511175" y="437555"/>
                  <a:pt x="481806" y="444500"/>
                  <a:pt x="467717" y="466725"/>
                </a:cubicBezTo>
                <a:lnTo>
                  <a:pt x="345877" y="661789"/>
                </a:lnTo>
                <a:lnTo>
                  <a:pt x="292298" y="590352"/>
                </a:lnTo>
                <a:cubicBezTo>
                  <a:pt x="276423" y="569317"/>
                  <a:pt x="246658" y="564952"/>
                  <a:pt x="225623" y="580827"/>
                </a:cubicBezTo>
                <a:cubicBezTo>
                  <a:pt x="204589" y="596702"/>
                  <a:pt x="200223" y="626467"/>
                  <a:pt x="216098" y="647502"/>
                </a:cubicBezTo>
                <a:lnTo>
                  <a:pt x="311348" y="774502"/>
                </a:lnTo>
                <a:cubicBezTo>
                  <a:pt x="320675" y="787003"/>
                  <a:pt x="335756" y="794147"/>
                  <a:pt x="351433" y="793552"/>
                </a:cubicBezTo>
                <a:cubicBezTo>
                  <a:pt x="367109" y="792956"/>
                  <a:pt x="381397" y="784622"/>
                  <a:pt x="389731" y="771128"/>
                </a:cubicBezTo>
                <a:lnTo>
                  <a:pt x="548481" y="517128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249680" y="10795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 READY</a:t>
            </a:r>
            <a:endParaRPr lang="en-US" sz="4130" dirty="0"/>
          </a:p>
        </p:txBody>
      </p:sp>
      <p:sp>
        <p:nvSpPr>
          <p:cNvPr id="15" name="Text 13"/>
          <p:cNvSpPr/>
          <p:nvPr/>
        </p:nvSpPr>
        <p:spPr>
          <a:xfrm>
            <a:off x="1249680" y="11811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audit trail with SHA-256 hashing for finance review</a:t>
            </a:r>
            <a:endParaRPr lang="en-US" sz="2930" dirty="0"/>
          </a:p>
        </p:txBody>
      </p:sp>
      <p:sp>
        <p:nvSpPr>
          <p:cNvPr id="16" name="Shape 14"/>
          <p:cNvSpPr/>
          <p:nvPr/>
        </p:nvSpPr>
        <p:spPr>
          <a:xfrm>
            <a:off x="8953500" y="9398000"/>
            <a:ext cx="1143000" cy="1016000"/>
          </a:xfrm>
          <a:custGeom>
            <a:avLst/>
            <a:gdLst/>
            <a:ahLst/>
            <a:cxnLst/>
            <a:rect l="l" t="t" r="r" b="b"/>
            <a:pathLst>
              <a:path w="1143000" h="1016000">
                <a:moveTo>
                  <a:pt x="571500" y="127000"/>
                </a:moveTo>
                <a:cubicBezTo>
                  <a:pt x="781844" y="127000"/>
                  <a:pt x="952500" y="297656"/>
                  <a:pt x="952500" y="508000"/>
                </a:cubicBezTo>
                <a:cubicBezTo>
                  <a:pt x="952500" y="718344"/>
                  <a:pt x="781844" y="889000"/>
                  <a:pt x="571500" y="889000"/>
                </a:cubicBezTo>
                <a:cubicBezTo>
                  <a:pt x="442119" y="889000"/>
                  <a:pt x="327620" y="824508"/>
                  <a:pt x="258763" y="725686"/>
                </a:cubicBezTo>
                <a:cubicBezTo>
                  <a:pt x="238720" y="696912"/>
                  <a:pt x="199033" y="689967"/>
                  <a:pt x="170259" y="710009"/>
                </a:cubicBezTo>
                <a:cubicBezTo>
                  <a:pt x="141486" y="730052"/>
                  <a:pt x="134541" y="769739"/>
                  <a:pt x="154583" y="798513"/>
                </a:cubicBezTo>
                <a:cubicBezTo>
                  <a:pt x="246261" y="929878"/>
                  <a:pt x="398859" y="1016000"/>
                  <a:pt x="571500" y="1016000"/>
                </a:cubicBezTo>
                <a:cubicBezTo>
                  <a:pt x="852091" y="1016000"/>
                  <a:pt x="1079500" y="788591"/>
                  <a:pt x="1079500" y="508000"/>
                </a:cubicBezTo>
                <a:cubicBezTo>
                  <a:pt x="1079500" y="227409"/>
                  <a:pt x="852091" y="0"/>
                  <a:pt x="571500" y="0"/>
                </a:cubicBezTo>
                <a:cubicBezTo>
                  <a:pt x="401439" y="0"/>
                  <a:pt x="251023" y="83542"/>
                  <a:pt x="158750" y="211733"/>
                </a:cubicBezTo>
                <a:lnTo>
                  <a:pt x="158750" y="158750"/>
                </a:lnTo>
                <a:cubicBezTo>
                  <a:pt x="158750" y="123627"/>
                  <a:pt x="130373" y="95250"/>
                  <a:pt x="95250" y="95250"/>
                </a:cubicBezTo>
                <a:cubicBezTo>
                  <a:pt x="60127" y="95250"/>
                  <a:pt x="31750" y="123627"/>
                  <a:pt x="31750" y="158750"/>
                </a:cubicBezTo>
                <a:lnTo>
                  <a:pt x="31750" y="381000"/>
                </a:lnTo>
                <a:cubicBezTo>
                  <a:pt x="31750" y="416123"/>
                  <a:pt x="60127" y="444500"/>
                  <a:pt x="95250" y="444500"/>
                </a:cubicBezTo>
                <a:lnTo>
                  <a:pt x="144066" y="444500"/>
                </a:lnTo>
                <a:cubicBezTo>
                  <a:pt x="145058" y="444500"/>
                  <a:pt x="146050" y="444500"/>
                  <a:pt x="147042" y="444500"/>
                </a:cubicBezTo>
                <a:lnTo>
                  <a:pt x="317698" y="444500"/>
                </a:lnTo>
                <a:cubicBezTo>
                  <a:pt x="352822" y="444500"/>
                  <a:pt x="381198" y="416123"/>
                  <a:pt x="381198" y="381000"/>
                </a:cubicBezTo>
                <a:cubicBezTo>
                  <a:pt x="381198" y="345877"/>
                  <a:pt x="352822" y="317500"/>
                  <a:pt x="317698" y="317500"/>
                </a:cubicBezTo>
                <a:lnTo>
                  <a:pt x="241697" y="317500"/>
                </a:lnTo>
                <a:cubicBezTo>
                  <a:pt x="307380" y="203597"/>
                  <a:pt x="430609" y="127000"/>
                  <a:pt x="571500" y="127000"/>
                </a:cubicBezTo>
                <a:close/>
                <a:moveTo>
                  <a:pt x="619125" y="301625"/>
                </a:moveTo>
                <a:cubicBezTo>
                  <a:pt x="619125" y="275233"/>
                  <a:pt x="597892" y="254000"/>
                  <a:pt x="571500" y="254000"/>
                </a:cubicBezTo>
                <a:cubicBezTo>
                  <a:pt x="545108" y="254000"/>
                  <a:pt x="523875" y="275233"/>
                  <a:pt x="523875" y="301625"/>
                </a:cubicBezTo>
                <a:lnTo>
                  <a:pt x="523875" y="508000"/>
                </a:lnTo>
                <a:cubicBezTo>
                  <a:pt x="523875" y="520700"/>
                  <a:pt x="528836" y="532805"/>
                  <a:pt x="537766" y="541734"/>
                </a:cubicBezTo>
                <a:lnTo>
                  <a:pt x="680641" y="684609"/>
                </a:lnTo>
                <a:cubicBezTo>
                  <a:pt x="699294" y="703262"/>
                  <a:pt x="729456" y="703262"/>
                  <a:pt x="747911" y="684609"/>
                </a:cubicBezTo>
                <a:cubicBezTo>
                  <a:pt x="766366" y="665956"/>
                  <a:pt x="766564" y="635794"/>
                  <a:pt x="747911" y="617339"/>
                </a:cubicBezTo>
                <a:lnTo>
                  <a:pt x="618927" y="488355"/>
                </a:lnTo>
                <a:lnTo>
                  <a:pt x="618927" y="301625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7" name="Text 15"/>
          <p:cNvSpPr/>
          <p:nvPr/>
        </p:nvSpPr>
        <p:spPr>
          <a:xfrm>
            <a:off x="8128000" y="10795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DSO</a:t>
            </a:r>
            <a:endParaRPr lang="en-US" sz="4130" dirty="0"/>
          </a:p>
        </p:txBody>
      </p:sp>
      <p:sp>
        <p:nvSpPr>
          <p:cNvPr id="18" name="Text 16"/>
          <p:cNvSpPr/>
          <p:nvPr/>
        </p:nvSpPr>
        <p:spPr>
          <a:xfrm>
            <a:off x="8128000" y="11811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 manual effort and faster follow-ups reduce Days Sales Outstanding</a:t>
            </a:r>
            <a:endParaRPr lang="en-US" sz="2930" dirty="0"/>
          </a:p>
        </p:txBody>
      </p:sp>
      <p:sp>
        <p:nvSpPr>
          <p:cNvPr id="19" name="Shape 17"/>
          <p:cNvSpPr/>
          <p:nvPr/>
        </p:nvSpPr>
        <p:spPr>
          <a:xfrm>
            <a:off x="16383000" y="9398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27000" y="127000"/>
                </a:moveTo>
                <a:cubicBezTo>
                  <a:pt x="127000" y="91877"/>
                  <a:pt x="98623" y="63500"/>
                  <a:pt x="63500" y="63500"/>
                </a:cubicBezTo>
                <a:cubicBezTo>
                  <a:pt x="28377" y="63500"/>
                  <a:pt x="0" y="91877"/>
                  <a:pt x="0" y="127000"/>
                </a:cubicBezTo>
                <a:lnTo>
                  <a:pt x="0" y="793750"/>
                </a:lnTo>
                <a:cubicBezTo>
                  <a:pt x="0" y="881459"/>
                  <a:pt x="71041" y="952500"/>
                  <a:pt x="158750" y="952500"/>
                </a:cubicBezTo>
                <a:lnTo>
                  <a:pt x="952500" y="952500"/>
                </a:lnTo>
                <a:cubicBezTo>
                  <a:pt x="987623" y="952500"/>
                  <a:pt x="1016000" y="924123"/>
                  <a:pt x="1016000" y="889000"/>
                </a:cubicBezTo>
                <a:cubicBezTo>
                  <a:pt x="1016000" y="853877"/>
                  <a:pt x="987623" y="825500"/>
                  <a:pt x="952500" y="825500"/>
                </a:cubicBezTo>
                <a:lnTo>
                  <a:pt x="158750" y="825500"/>
                </a:lnTo>
                <a:cubicBezTo>
                  <a:pt x="141288" y="825500"/>
                  <a:pt x="127000" y="811213"/>
                  <a:pt x="127000" y="793750"/>
                </a:cubicBezTo>
                <a:lnTo>
                  <a:pt x="127000" y="127000"/>
                </a:lnTo>
                <a:close/>
                <a:moveTo>
                  <a:pt x="933847" y="298847"/>
                </a:moveTo>
                <a:cubicBezTo>
                  <a:pt x="958652" y="274042"/>
                  <a:pt x="958652" y="233759"/>
                  <a:pt x="933847" y="208955"/>
                </a:cubicBezTo>
                <a:cubicBezTo>
                  <a:pt x="909042" y="184150"/>
                  <a:pt x="868759" y="184150"/>
                  <a:pt x="843955" y="208955"/>
                </a:cubicBezTo>
                <a:lnTo>
                  <a:pt x="635000" y="418108"/>
                </a:lnTo>
                <a:lnTo>
                  <a:pt x="521097" y="304403"/>
                </a:lnTo>
                <a:cubicBezTo>
                  <a:pt x="496292" y="279598"/>
                  <a:pt x="456009" y="279598"/>
                  <a:pt x="431205" y="304403"/>
                </a:cubicBezTo>
                <a:lnTo>
                  <a:pt x="240705" y="494903"/>
                </a:lnTo>
                <a:cubicBezTo>
                  <a:pt x="215900" y="519708"/>
                  <a:pt x="215900" y="559991"/>
                  <a:pt x="240705" y="584795"/>
                </a:cubicBezTo>
                <a:cubicBezTo>
                  <a:pt x="265509" y="609600"/>
                  <a:pt x="305792" y="609600"/>
                  <a:pt x="330597" y="584795"/>
                </a:cubicBezTo>
                <a:lnTo>
                  <a:pt x="476250" y="439142"/>
                </a:lnTo>
                <a:lnTo>
                  <a:pt x="590153" y="553045"/>
                </a:lnTo>
                <a:cubicBezTo>
                  <a:pt x="614958" y="577850"/>
                  <a:pt x="655241" y="577850"/>
                  <a:pt x="680045" y="553045"/>
                </a:cubicBezTo>
                <a:lnTo>
                  <a:pt x="934045" y="299045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15494000" y="10795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METRICS</a:t>
            </a:r>
            <a:endParaRPr lang="en-US" sz="4130" dirty="0"/>
          </a:p>
        </p:txBody>
      </p:sp>
      <p:sp>
        <p:nvSpPr>
          <p:cNvPr id="21" name="Text 19"/>
          <p:cNvSpPr/>
          <p:nvPr/>
        </p:nvSpPr>
        <p:spPr>
          <a:xfrm>
            <a:off x="15494000" y="11811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dashboard provides live operational visibility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jjuykkadmel6/mnt/agents/output/finance-credit-agent/images/2_Ai_Fintech_Images_Browse_110_868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32519" r="32519" t="0" b="0"/>
          <a:stretch/>
        </p:blipFill>
        <p:spPr>
          <a:xfrm>
            <a:off x="0" y="0"/>
            <a:ext cx="11176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87400" y="2286000"/>
            <a:ext cx="889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Learnings &amp;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9870" dirty="0"/>
          </a:p>
        </p:txBody>
      </p:sp>
      <p:sp>
        <p:nvSpPr>
          <p:cNvPr id="4" name="Text 1"/>
          <p:cNvSpPr/>
          <p:nvPr/>
        </p:nvSpPr>
        <p:spPr>
          <a:xfrm>
            <a:off x="13487400" y="6096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LEARNINGS</a:t>
            </a:r>
            <a:endParaRPr lang="en-US" sz="4130" dirty="0"/>
          </a:p>
        </p:txBody>
      </p:sp>
      <p:sp>
        <p:nvSpPr>
          <p:cNvPr id="5" name="Text 2"/>
          <p:cNvSpPr/>
          <p:nvPr/>
        </p:nvSpPr>
        <p:spPr>
          <a:xfrm>
            <a:off x="13487400" y="6921500"/>
            <a:ext cx="952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JSON output from day one saved significant debugging time. Dry-run mode was essential for safe, iterative development.</a:t>
            </a:r>
            <a:endParaRPr lang="en-US" sz="2930" dirty="0"/>
          </a:p>
        </p:txBody>
      </p:sp>
      <p:sp>
        <p:nvSpPr>
          <p:cNvPr id="6" name="Text 3"/>
          <p:cNvSpPr/>
          <p:nvPr/>
        </p:nvSpPr>
        <p:spPr>
          <a:xfrm>
            <a:off x="13487400" y="9144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4130" dirty="0"/>
          </a:p>
        </p:txBody>
      </p:sp>
      <p:sp>
        <p:nvSpPr>
          <p:cNvPr id="7" name="Text 4"/>
          <p:cNvSpPr/>
          <p:nvPr/>
        </p:nvSpPr>
        <p:spPr>
          <a:xfrm>
            <a:off x="13487400" y="9969500"/>
            <a:ext cx="9525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APScheduler/cron for automated scheduling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SendGrid integration for production email sends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LangSmith tracing for full observability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Multi-language email support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Credit Follow-Up Email Agent</dc:title>
  <dc:subject>Finance Credit Follow-Up Email Agent</dc:subject>
  <dc:creator>Kimi</dc:creator>
  <cp:lastModifiedBy>Kimi</cp:lastModifiedBy>
  <cp:revision>1</cp:revision>
  <dcterms:created xsi:type="dcterms:W3CDTF">2026-05-10T07:42:54Z</dcterms:created>
  <dcterms:modified xsi:type="dcterms:W3CDTF">2026-05-10T07:42:54Z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{"Label":"Finance Credit Follow-Up Email Agent","ContentProducer":"001191110108MACG2KBH8F10000","ProduceID":"19e10cf6-cca2-819d-8000-0000340e36d3","ReservedCode1":"","ContentPropagator":"001191110108MACG2KBH8F20000","PropagateID":"19e10cf6-cca2-819d-8000-0000340e36d3","ReservedCode2":""}</vt:lpwstr>
  </property>
</Properties>
</file>